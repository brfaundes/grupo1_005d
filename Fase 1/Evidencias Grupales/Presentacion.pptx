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taatliches" charset="1" panose="00000000000000000000"/>
      <p:regular r:id="rId18"/>
    </p:embeddedFont>
    <p:embeddedFont>
      <p:font typeface="Open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1999" y="271999"/>
            <a:ext cx="7908899" cy="9743002"/>
          </a:xfrm>
          <a:custGeom>
            <a:avLst/>
            <a:gdLst/>
            <a:ahLst/>
            <a:cxnLst/>
            <a:rect r="r" b="b" t="t" l="l"/>
            <a:pathLst>
              <a:path h="9743002" w="7908899">
                <a:moveTo>
                  <a:pt x="0" y="0"/>
                </a:moveTo>
                <a:lnTo>
                  <a:pt x="7908899" y="0"/>
                </a:lnTo>
                <a:lnTo>
                  <a:pt x="7908899" y="9743002"/>
                </a:lnTo>
                <a:lnTo>
                  <a:pt x="0" y="9743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615" t="0" r="-57615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256123" y="1676998"/>
            <a:ext cx="8384422" cy="6671747"/>
            <a:chOff x="0" y="0"/>
            <a:chExt cx="11179230" cy="889566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61667" y="0"/>
              <a:ext cx="10356836" cy="464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194"/>
                </a:lnSpc>
              </a:pPr>
              <a:r>
                <a:rPr lang="en-US" sz="7661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GESTIÓN DE ASISTENCIA POR RECONOCIMIENTO FACIAL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61667" y="5557889"/>
              <a:ext cx="10356836" cy="3337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7"/>
                </a:lnSpc>
              </a:pPr>
              <a:r>
                <a:rPr lang="en-US" sz="2574" spc="25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Nombres: Nicolas Almarza</a:t>
              </a:r>
            </a:p>
            <a:p>
              <a:pPr algn="l" marL="0" indent="0" lvl="0">
                <a:lnSpc>
                  <a:spcPts val="3347"/>
                </a:lnSpc>
              </a:pPr>
              <a:r>
                <a:rPr lang="en-US" sz="2574" spc="25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                       Brian Faundes</a:t>
              </a:r>
            </a:p>
            <a:p>
              <a:pPr algn="l" marL="0" indent="0" lvl="0">
                <a:lnSpc>
                  <a:spcPts val="3347"/>
                </a:lnSpc>
              </a:pPr>
              <a:r>
                <a:rPr lang="en-US" sz="2574" spc="25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                       Lucas Figueroa</a:t>
              </a:r>
            </a:p>
            <a:p>
              <a:pPr algn="l" marL="0" indent="0" lvl="0">
                <a:lnSpc>
                  <a:spcPts val="3347"/>
                </a:lnSpc>
              </a:pPr>
              <a:r>
                <a:rPr lang="en-US" sz="2574" spc="25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Asignatura: CAPSTONE_005D</a:t>
              </a:r>
            </a:p>
            <a:p>
              <a:pPr algn="l" marL="0" indent="0" lvl="0">
                <a:lnSpc>
                  <a:spcPts val="3347"/>
                </a:lnSpc>
              </a:pPr>
              <a:r>
                <a:rPr lang="en-US" sz="2574" spc="25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Carrera: Ingeniería en Informática</a:t>
              </a:r>
            </a:p>
            <a:p>
              <a:pPr algn="l" marL="0" indent="0" lvl="0">
                <a:lnSpc>
                  <a:spcPts val="3347"/>
                </a:lnSpc>
              </a:pPr>
              <a:r>
                <a:rPr lang="en-US" sz="2574" spc="25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Sede: Viña del Mar, Duoc UC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5069253"/>
              <a:ext cx="11179230" cy="0"/>
            </a:xfrm>
            <a:prstGeom prst="line">
              <a:avLst/>
            </a:prstGeom>
            <a:ln cap="flat" w="139700">
              <a:solidFill>
                <a:srgbClr val="80A4CA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5300" y="-280630"/>
            <a:ext cx="19278600" cy="5568347"/>
            <a:chOff x="0" y="0"/>
            <a:chExt cx="6521403" cy="1883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21403" cy="1883614"/>
            </a:xfrm>
            <a:custGeom>
              <a:avLst/>
              <a:gdLst/>
              <a:ahLst/>
              <a:cxnLst/>
              <a:rect r="r" b="b" t="t" l="l"/>
              <a:pathLst>
                <a:path h="1883614" w="6521403">
                  <a:moveTo>
                    <a:pt x="0" y="0"/>
                  </a:moveTo>
                  <a:lnTo>
                    <a:pt x="6521403" y="0"/>
                  </a:lnTo>
                  <a:lnTo>
                    <a:pt x="6521403" y="1883614"/>
                  </a:lnTo>
                  <a:lnTo>
                    <a:pt x="0" y="1883614"/>
                  </a:lnTo>
                  <a:close/>
                </a:path>
              </a:pathLst>
            </a:custGeom>
            <a:solidFill>
              <a:srgbClr val="FFFEF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0038045" cy="3306165"/>
            <a:chOff x="0" y="0"/>
            <a:chExt cx="13384061" cy="44082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6675"/>
              <a:ext cx="11564163" cy="27222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sz="7200" strike="noStrike" u="none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INTRODUCCIÓN AL PROYECTO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612564"/>
              <a:ext cx="13384061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sz="3600" u="none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GESTIÓN DE ASISTENCIA POR RECONOCIMIENTO FACIAL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514703"/>
            <a:ext cx="7442331" cy="2535357"/>
            <a:chOff x="0" y="0"/>
            <a:chExt cx="9923108" cy="338047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36715"/>
              <a:ext cx="9923108" cy="2443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1596" indent="-225798" lvl="1">
                <a:lnSpc>
                  <a:spcPts val="292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1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Análisis de requerimientos</a:t>
              </a:r>
            </a:p>
            <a:p>
              <a:pPr algn="l" marL="451596" indent="-225798" lvl="1">
                <a:lnSpc>
                  <a:spcPts val="292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1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Gestión de proyectos informáticos</a:t>
              </a:r>
            </a:p>
            <a:p>
              <a:pPr algn="l" marL="451596" indent="-225798" lvl="1">
                <a:lnSpc>
                  <a:spcPts val="292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1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Desarrollo de aplicaciones móviles</a:t>
              </a:r>
            </a:p>
            <a:p>
              <a:pPr algn="l" marL="451596" indent="-225798" lvl="1">
                <a:lnSpc>
                  <a:spcPts val="292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1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Administración de bases de datos y gestión de la información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9923108" cy="686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23"/>
                </a:lnSpc>
                <a:spcBef>
                  <a:spcPct val="0"/>
                </a:spcBef>
              </a:pPr>
              <a:r>
                <a:rPr lang="en-US" sz="3159" strike="noStrike" u="none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COMPETENCIAS DEL PERFIL DE EGRESO: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32620" y="6514703"/>
            <a:ext cx="7442331" cy="2367228"/>
            <a:chOff x="0" y="0"/>
            <a:chExt cx="9923108" cy="315630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89090"/>
              <a:ext cx="9923108" cy="2267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3371" indent="-211685" lvl="1">
                <a:lnSpc>
                  <a:spcPts val="27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6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Ofrecer soluciones informáticas de acuerdo a los requerimientos de la organización.</a:t>
              </a:r>
            </a:p>
            <a:p>
              <a:pPr algn="l" marL="423371" indent="-211685" lvl="1">
                <a:lnSpc>
                  <a:spcPts val="27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6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Construir modelos de datos escalables.</a:t>
              </a:r>
            </a:p>
            <a:p>
              <a:pPr algn="l" marL="423371" indent="-211685" lvl="1">
                <a:lnSpc>
                  <a:spcPts val="27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6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Transformación de datos para apoyar la toma de decisiones.</a:t>
              </a:r>
            </a:p>
            <a:p>
              <a:pPr algn="l" marL="423371" indent="-211685" lvl="1">
                <a:lnSpc>
                  <a:spcPts val="27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6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Asegurar la seguridad y calidad del software.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9923108" cy="686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23"/>
                </a:lnSpc>
                <a:spcBef>
                  <a:spcPct val="0"/>
                </a:spcBef>
              </a:pPr>
              <a:r>
                <a:rPr lang="en-US" sz="3159" strike="noStrike" u="none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ÁREAS DE DESEMPEÑO: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1853" y="1379458"/>
            <a:ext cx="7534275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70"/>
              </a:lnSpc>
            </a:pPr>
            <a:r>
              <a:rPr lang="en-US" sz="7725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FUNDAMENTACIÓN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1853" y="4288949"/>
            <a:ext cx="3767138" cy="4301773"/>
            <a:chOff x="0" y="0"/>
            <a:chExt cx="5022850" cy="573569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737908"/>
              <a:ext cx="5022850" cy="299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185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El condominio "El Carmen 2" enfrenta dificultades en el control de asistencia del personal debido a un método manual de registro, lo cual genera errores, ineficiencia y dificultades en la gestión del personal.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13454"/>
              <a:ext cx="502285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1"/>
                </a:lnSpc>
              </a:pPr>
              <a:r>
                <a:rPr lang="en-US" sz="2784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PROBLEMA: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502285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sz="6999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60431" y="4288949"/>
            <a:ext cx="3767138" cy="4625623"/>
            <a:chOff x="0" y="0"/>
            <a:chExt cx="5022850" cy="616749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737908"/>
              <a:ext cx="5022850" cy="3429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1857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Implementar un sistema de control de asistencia basado en reconocimiento facial que automatice el proceso, optimizando la gestión del personal, reduciendo errores y minimizando el tiempo dedicado a tareas administrativas.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813454"/>
              <a:ext cx="502285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1"/>
                </a:lnSpc>
              </a:pPr>
              <a:r>
                <a:rPr lang="en-US" sz="2784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SOLUCIÓN PROPUESTA: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02285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sz="6999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29009" y="4288949"/>
            <a:ext cx="3767138" cy="4625623"/>
            <a:chOff x="0" y="0"/>
            <a:chExt cx="5022850" cy="616749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2737908"/>
              <a:ext cx="5022850" cy="3429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1061" indent="-200530" lvl="1">
                <a:lnSpc>
                  <a:spcPts val="2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57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Mayor precisión en el control de asistencia.</a:t>
              </a:r>
            </a:p>
            <a:p>
              <a:pPr algn="l" marL="401061" indent="-200530" lvl="1">
                <a:lnSpc>
                  <a:spcPts val="2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57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Reducción de errores en el registro manual.</a:t>
              </a:r>
            </a:p>
            <a:p>
              <a:pPr algn="l" marL="401061" indent="-200530" lvl="1">
                <a:lnSpc>
                  <a:spcPts val="2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57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Mejora en la planificación de turnos y recursos.</a:t>
              </a:r>
            </a:p>
            <a:p>
              <a:pPr algn="l" marL="401061" indent="-200530" lvl="1">
                <a:lnSpc>
                  <a:spcPts val="2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57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Transparencia en la gestión y reportes periódicos.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813454"/>
              <a:ext cx="502285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1"/>
                </a:lnSpc>
              </a:pPr>
              <a:r>
                <a:rPr lang="en-US" sz="2784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BENEFICIOS ESPERADOS: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0"/>
              <a:ext cx="502285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sz="6999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03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840640" y="1028700"/>
            <a:ext cx="1418660" cy="8229600"/>
            <a:chOff x="0" y="0"/>
            <a:chExt cx="1891546" cy="10972800"/>
          </a:xfrm>
        </p:grpSpPr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-10800000">
              <a:off x="0" y="6810940"/>
              <a:ext cx="1891546" cy="1891546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004753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-10800000">
              <a:off x="0" y="9081254"/>
              <a:ext cx="1891546" cy="1891546"/>
            </a:xfrm>
            <a:custGeom>
              <a:avLst/>
              <a:gdLst/>
              <a:ahLst/>
              <a:cxnLst/>
              <a:rect r="r" b="b" t="t" l="l"/>
              <a:pathLst>
                <a:path h="1891546" w="1891546">
                  <a:moveTo>
                    <a:pt x="0" y="0"/>
                  </a:moveTo>
                  <a:lnTo>
                    <a:pt x="1891546" y="0"/>
                  </a:lnTo>
                  <a:lnTo>
                    <a:pt x="1891546" y="1891546"/>
                  </a:lnTo>
                  <a:lnTo>
                    <a:pt x="0" y="1891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-10800000">
              <a:off x="0" y="2270313"/>
              <a:ext cx="1891546" cy="1891546"/>
              <a:chOff x="0" y="0"/>
              <a:chExt cx="1708150" cy="17081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004753"/>
              </a:soli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-10800000">
              <a:off x="0" y="4540627"/>
              <a:ext cx="1891546" cy="1891546"/>
            </a:xfrm>
            <a:custGeom>
              <a:avLst/>
              <a:gdLst/>
              <a:ahLst/>
              <a:cxnLst/>
              <a:rect r="r" b="b" t="t" l="l"/>
              <a:pathLst>
                <a:path h="1891546" w="1891546">
                  <a:moveTo>
                    <a:pt x="0" y="0"/>
                  </a:moveTo>
                  <a:lnTo>
                    <a:pt x="1891546" y="0"/>
                  </a:lnTo>
                  <a:lnTo>
                    <a:pt x="1891546" y="1891546"/>
                  </a:lnTo>
                  <a:lnTo>
                    <a:pt x="0" y="1891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10800000">
              <a:off x="0" y="0"/>
              <a:ext cx="1891546" cy="1891546"/>
            </a:xfrm>
            <a:custGeom>
              <a:avLst/>
              <a:gdLst/>
              <a:ahLst/>
              <a:cxnLst/>
              <a:rect r="r" b="b" t="t" l="l"/>
              <a:pathLst>
                <a:path h="1891546" w="1891546">
                  <a:moveTo>
                    <a:pt x="0" y="0"/>
                  </a:moveTo>
                  <a:lnTo>
                    <a:pt x="1891546" y="0"/>
                  </a:lnTo>
                  <a:lnTo>
                    <a:pt x="1891546" y="1891546"/>
                  </a:lnTo>
                  <a:lnTo>
                    <a:pt x="0" y="1891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3170369"/>
            <a:ext cx="13338033" cy="3946261"/>
            <a:chOff x="0" y="0"/>
            <a:chExt cx="17784044" cy="526168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17784044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OBJETIVO GENERAL DEL PROYECTO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471380"/>
              <a:ext cx="17784044" cy="1790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45"/>
                </a:lnSpc>
              </a:pPr>
              <a:r>
                <a:rPr lang="en-US" sz="2567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Desarrollar un sistema de control de asistencia que utilice reconocimiento facial para iniciar y finalizar la jornada laboral de los empleados. La solución incluirá una vista web para administradores y una aplicación móvil para usuarios.</a:t>
              </a:r>
            </a:p>
          </p:txBody>
        </p:sp>
        <p:sp>
          <p:nvSpPr>
            <p:cNvPr name="AutoShape 15" id="15"/>
            <p:cNvSpPr/>
            <p:nvPr/>
          </p:nvSpPr>
          <p:spPr>
            <a:xfrm rot="0">
              <a:off x="0" y="2327961"/>
              <a:ext cx="1324627" cy="223120"/>
            </a:xfrm>
            <a:prstGeom prst="rect">
              <a:avLst/>
            </a:prstGeom>
            <a:solidFill>
              <a:srgbClr val="004753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0" y="4158867"/>
            <a:ext cx="18288000" cy="1532033"/>
          </a:xfrm>
          <a:prstGeom prst="rect">
            <a:avLst/>
          </a:prstGeom>
          <a:solidFill>
            <a:srgbClr val="FFFEF3"/>
          </a:solidFill>
        </p:spPr>
      </p:sp>
      <p:sp>
        <p:nvSpPr>
          <p:cNvPr name="AutoShape 5" id="5"/>
          <p:cNvSpPr/>
          <p:nvPr/>
        </p:nvSpPr>
        <p:spPr>
          <a:xfrm rot="0">
            <a:off x="0" y="7222934"/>
            <a:ext cx="18288000" cy="1532033"/>
          </a:xfrm>
          <a:prstGeom prst="rect">
            <a:avLst/>
          </a:prstGeom>
          <a:solidFill>
            <a:srgbClr val="FFFEF3"/>
          </a:solid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892272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03106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OBJETIVOS ESPECÍFICOS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19510" y="3018454"/>
            <a:ext cx="11492801" cy="70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01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Desarrollar una aplicación móvil que utilice reconocimiento facial para registrar la asistencia de manera automática.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0982" y="3145201"/>
            <a:ext cx="47659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FFFEF3"/>
                </a:solidFill>
                <a:latin typeface="Staatliches"/>
                <a:ea typeface="Staatliches"/>
                <a:cs typeface="Staatliches"/>
                <a:sym typeface="Staatliches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19510" y="4550487"/>
            <a:ext cx="11492801" cy="70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01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Implementar una página web con vistas específicas para clientes y administradores que permita la gestión y visualización de datos.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4424305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7739" y="4677234"/>
            <a:ext cx="47659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FFFEF3"/>
                </a:solidFill>
                <a:latin typeface="Staatliches"/>
                <a:ea typeface="Staatliches"/>
                <a:cs typeface="Staatliches"/>
                <a:sym typeface="Staatliches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19510" y="6082521"/>
            <a:ext cx="11492801" cy="701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01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Integrar un sistema de reconocimiento facial seguro y eficiente, que garantice la privacidad de los datos de los usuarios.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15456" y="5956338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77739" y="6209267"/>
            <a:ext cx="47659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FFFEF3"/>
                </a:solidFill>
                <a:latin typeface="Staatliches"/>
                <a:ea typeface="Staatliches"/>
                <a:cs typeface="Staatliches"/>
                <a:sym typeface="Staatliches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9510" y="7614554"/>
            <a:ext cx="11492801" cy="701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01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Asegurar la comunicación y el flujo de datos entre la aplicación móvil, la página web y la base de datos, garantizando un rendimiento óptimo.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7488371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77739" y="7741300"/>
            <a:ext cx="47659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FFFEF3"/>
                </a:solidFill>
                <a:latin typeface="Staatliches"/>
                <a:ea typeface="Staatliches"/>
                <a:cs typeface="Staatliches"/>
                <a:sym typeface="Staatliches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19510" y="9322800"/>
            <a:ext cx="11492801" cy="34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01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Desarrollar un sistema intuitivo y responsivo que no requiera capacitación para su uso.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8700" y="9020405"/>
            <a:ext cx="1001158" cy="1001158"/>
          </a:xfrm>
          <a:custGeom>
            <a:avLst/>
            <a:gdLst/>
            <a:ahLst/>
            <a:cxnLst/>
            <a:rect r="r" b="b" t="t" l="l"/>
            <a:pathLst>
              <a:path h="1001158" w="1001158">
                <a:moveTo>
                  <a:pt x="0" y="0"/>
                </a:moveTo>
                <a:lnTo>
                  <a:pt x="1001158" y="0"/>
                </a:lnTo>
                <a:lnTo>
                  <a:pt x="1001158" y="1001157"/>
                </a:lnTo>
                <a:lnTo>
                  <a:pt x="0" y="1001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77739" y="9273333"/>
            <a:ext cx="47659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FFFEF3"/>
                </a:solidFill>
                <a:latin typeface="Staatliches"/>
                <a:ea typeface="Staatliches"/>
                <a:cs typeface="Staatliches"/>
                <a:sym typeface="Staatliche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8098646" cy="3825875"/>
            <a:chOff x="0" y="0"/>
            <a:chExt cx="3047669" cy="1439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7669" cy="1439747"/>
            </a:xfrm>
            <a:custGeom>
              <a:avLst/>
              <a:gdLst/>
              <a:ahLst/>
              <a:cxnLst/>
              <a:rect r="r" b="b" t="t" l="l"/>
              <a:pathLst>
                <a:path h="1439747" w="3047669">
                  <a:moveTo>
                    <a:pt x="0" y="0"/>
                  </a:moveTo>
                  <a:lnTo>
                    <a:pt x="3047669" y="0"/>
                  </a:lnTo>
                  <a:lnTo>
                    <a:pt x="3047669" y="1439747"/>
                  </a:lnTo>
                  <a:lnTo>
                    <a:pt x="0" y="1439747"/>
                  </a:lnTo>
                  <a:close/>
                </a:path>
              </a:pathLst>
            </a:custGeom>
            <a:solidFill>
              <a:srgbClr val="00475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038225"/>
            <a:ext cx="5915461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1"/>
              </a:lnSpc>
            </a:pPr>
            <a:r>
              <a:rPr lang="en-US" sz="5492">
                <a:solidFill>
                  <a:srgbClr val="FFFEF3"/>
                </a:solidFill>
                <a:latin typeface="Staatliches"/>
                <a:ea typeface="Staatliches"/>
                <a:cs typeface="Staatliches"/>
                <a:sym typeface="Staatliches"/>
              </a:rPr>
              <a:t>METODOLOGÍA UTILIZADA - SCRUM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711541" y="5403520"/>
            <a:ext cx="7140168" cy="3723305"/>
            <a:chOff x="0" y="0"/>
            <a:chExt cx="9520224" cy="496440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520224" cy="825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32"/>
                </a:lnSpc>
                <a:spcBef>
                  <a:spcPct val="0"/>
                </a:spcBef>
              </a:pPr>
              <a:r>
                <a:rPr lang="en-US" sz="3554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Fases del Proyecto: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4317"/>
              <a:ext cx="9520224" cy="382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5904" indent="-207952" lvl="1">
                <a:lnSpc>
                  <a:spcPts val="28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26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0: Preparación e inicio del proyecto, definición del backlog y asignación de roles.</a:t>
              </a:r>
            </a:p>
            <a:p>
              <a:pPr algn="l" marL="415904" indent="-207952" lvl="1">
                <a:lnSpc>
                  <a:spcPts val="28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26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1: Diseño y prototipado de la interfaz de usuario.</a:t>
              </a:r>
            </a:p>
            <a:p>
              <a:pPr algn="l" marL="415904" indent="-207952" lvl="1">
                <a:lnSpc>
                  <a:spcPts val="28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26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2: Desarrollo de la vista del administrador (CRUD).</a:t>
              </a:r>
            </a:p>
            <a:p>
              <a:pPr algn="l" marL="415904" indent="-207952" lvl="1">
                <a:lnSpc>
                  <a:spcPts val="28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26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3: Desarrollo del inicio de sesión y funciones de reconocimiento facial.</a:t>
              </a:r>
            </a:p>
            <a:p>
              <a:pPr algn="l" marL="415904" indent="-207952" lvl="1">
                <a:lnSpc>
                  <a:spcPts val="28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26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4: Creación de la vista del trabajador, incluyendo registro de actividades.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11541" y="1138220"/>
            <a:ext cx="7140168" cy="3095660"/>
            <a:chOff x="0" y="0"/>
            <a:chExt cx="9520224" cy="41275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520224" cy="825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32"/>
                </a:lnSpc>
                <a:spcBef>
                  <a:spcPct val="0"/>
                </a:spcBef>
              </a:pPr>
              <a:r>
                <a:rPr lang="en-US" sz="3554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Metodología Ágil Scrum: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34792"/>
              <a:ext cx="9520224" cy="2992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Permite adaptarse a los cambios y mejorar continuamente el producto a lo largo del desarrollo.</a:t>
              </a:r>
            </a:p>
            <a:p>
              <a:pPr algn="l" marL="518160" indent="-25908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Iteraciones cortas (sprints) de no más de dos semanas para un enfoque incremental.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 descr="Corner Geometric Shape"/>
          <p:cNvSpPr/>
          <p:nvPr/>
        </p:nvSpPr>
        <p:spPr>
          <a:xfrm flipH="false" flipV="false" rot="5463167">
            <a:off x="-1178936" y="433543"/>
            <a:ext cx="6437068" cy="5243285"/>
          </a:xfrm>
          <a:custGeom>
            <a:avLst/>
            <a:gdLst/>
            <a:ahLst/>
            <a:cxnLst/>
            <a:rect r="r" b="b" t="t" l="l"/>
            <a:pathLst>
              <a:path h="5243285" w="6437068">
                <a:moveTo>
                  <a:pt x="0" y="0"/>
                </a:moveTo>
                <a:lnTo>
                  <a:pt x="6437069" y="0"/>
                </a:lnTo>
                <a:lnTo>
                  <a:pt x="6437069" y="5243284"/>
                </a:lnTo>
                <a:lnTo>
                  <a:pt x="0" y="5243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5400000">
            <a:off x="947290" y="6860683"/>
            <a:ext cx="6843109" cy="0"/>
          </a:xfrm>
          <a:prstGeom prst="line">
            <a:avLst/>
          </a:prstGeom>
          <a:ln cap="rnd" w="9525">
            <a:solidFill>
              <a:srgbClr val="4078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0" y="3443891"/>
            <a:ext cx="18246628" cy="0"/>
          </a:xfrm>
          <a:prstGeom prst="line">
            <a:avLst/>
          </a:prstGeom>
          <a:ln cap="rnd" w="9525">
            <a:solidFill>
              <a:srgbClr val="4078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400000">
            <a:off x="5243715" y="7053476"/>
            <a:ext cx="7228694" cy="0"/>
          </a:xfrm>
          <a:prstGeom prst="line">
            <a:avLst/>
          </a:prstGeom>
          <a:ln cap="rnd" w="9525">
            <a:solidFill>
              <a:srgbClr val="4078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400000">
            <a:off x="10172548" y="6860683"/>
            <a:ext cx="6843109" cy="0"/>
          </a:xfrm>
          <a:prstGeom prst="line">
            <a:avLst/>
          </a:prstGeom>
          <a:ln cap="rnd" w="9525">
            <a:solidFill>
              <a:srgbClr val="4078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730426" y="1028700"/>
            <a:ext cx="12827148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19"/>
              </a:lnSpc>
            </a:pPr>
            <a:r>
              <a:rPr lang="en-US" sz="7849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FACTIBILIDAD DEL PROYECTO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6516" y="4809269"/>
            <a:ext cx="3373149" cy="4439105"/>
            <a:chOff x="0" y="0"/>
            <a:chExt cx="4497532" cy="59188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26777" y="0"/>
              <a:ext cx="1243978" cy="1810021"/>
            </a:xfrm>
            <a:custGeom>
              <a:avLst/>
              <a:gdLst/>
              <a:ahLst/>
              <a:cxnLst/>
              <a:rect r="r" b="b" t="t" l="l"/>
              <a:pathLst>
                <a:path h="1810021" w="1243978">
                  <a:moveTo>
                    <a:pt x="0" y="0"/>
                  </a:moveTo>
                  <a:lnTo>
                    <a:pt x="1243978" y="0"/>
                  </a:lnTo>
                  <a:lnTo>
                    <a:pt x="1243978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2813116"/>
              <a:ext cx="4497532" cy="3105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sz="203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Factibilidad Técnica:</a:t>
              </a:r>
            </a:p>
            <a:p>
              <a:pPr algn="l" marL="0" indent="0" lvl="0">
                <a:lnSpc>
                  <a:spcPts val="2639"/>
                </a:lnSpc>
              </a:pPr>
              <a:r>
                <a:rPr lang="en-US" sz="203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Disponibilidad de recursos tecnológicos (computadoras, software de desarrollo, bibliotecas de reconocimiento facial como OpenCV).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26879" y="4714461"/>
            <a:ext cx="3373149" cy="3867163"/>
            <a:chOff x="0" y="0"/>
            <a:chExt cx="4497532" cy="51562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08303" y="0"/>
              <a:ext cx="1480926" cy="1810021"/>
            </a:xfrm>
            <a:custGeom>
              <a:avLst/>
              <a:gdLst/>
              <a:ahLst/>
              <a:cxnLst/>
              <a:rect r="r" b="b" t="t" l="l"/>
              <a:pathLst>
                <a:path h="1810021" w="1480926">
                  <a:moveTo>
                    <a:pt x="0" y="0"/>
                  </a:moveTo>
                  <a:lnTo>
                    <a:pt x="1480926" y="0"/>
                  </a:lnTo>
                  <a:lnTo>
                    <a:pt x="1480926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2939527"/>
              <a:ext cx="4497532" cy="221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39"/>
                </a:lnSpc>
              </a:pPr>
              <a:r>
                <a:rPr lang="en-US" sz="203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Factibilidad Operacional: Uso de metodología ágil Scrum para manejar tiempo y recursos, estructura modular del proyecto.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39508" y="4714461"/>
            <a:ext cx="3373149" cy="4200538"/>
            <a:chOff x="0" y="0"/>
            <a:chExt cx="4497532" cy="56007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343756" y="0"/>
              <a:ext cx="1810021" cy="1717874"/>
            </a:xfrm>
            <a:custGeom>
              <a:avLst/>
              <a:gdLst/>
              <a:ahLst/>
              <a:cxnLst/>
              <a:rect r="r" b="b" t="t" l="l"/>
              <a:pathLst>
                <a:path h="1717874" w="1810021">
                  <a:moveTo>
                    <a:pt x="0" y="0"/>
                  </a:moveTo>
                  <a:lnTo>
                    <a:pt x="1810020" y="0"/>
                  </a:lnTo>
                  <a:lnTo>
                    <a:pt x="1810020" y="1717874"/>
                  </a:lnTo>
                  <a:lnTo>
                    <a:pt x="0" y="1717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939527"/>
              <a:ext cx="4497532" cy="2661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39"/>
                </a:lnSpc>
              </a:pPr>
              <a:r>
                <a:rPr lang="en-US" sz="203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Factibilidad Económica: Uso de tecnologías de código abierto y recursos ya disponibles, sin necesidad de inversión adicional significativa.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16310" y="4809269"/>
            <a:ext cx="3373149" cy="3438980"/>
            <a:chOff x="0" y="0"/>
            <a:chExt cx="4497532" cy="45853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422738" y="0"/>
              <a:ext cx="1652055" cy="1810021"/>
            </a:xfrm>
            <a:custGeom>
              <a:avLst/>
              <a:gdLst/>
              <a:ahLst/>
              <a:cxnLst/>
              <a:rect r="r" b="b" t="t" l="l"/>
              <a:pathLst>
                <a:path h="1810021" w="1652055">
                  <a:moveTo>
                    <a:pt x="0" y="0"/>
                  </a:moveTo>
                  <a:lnTo>
                    <a:pt x="1652056" y="0"/>
                  </a:lnTo>
                  <a:lnTo>
                    <a:pt x="1652056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2813116"/>
              <a:ext cx="4497532" cy="1772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39"/>
                </a:lnSpc>
              </a:pPr>
              <a:r>
                <a:rPr lang="en-US" sz="203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Factibilidad Legal: Cumplimiento de la Ley Nº 19.628 sobre Protección de la Vida Privada en Chile.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9628395" y="3202889"/>
            <a:ext cx="319604" cy="285896"/>
          </a:xfrm>
          <a:prstGeom prst="rect">
            <a:avLst/>
          </a:prstGeom>
          <a:solidFill>
            <a:srgbClr val="004753"/>
          </a:solidFill>
        </p:spPr>
      </p:sp>
      <p:sp>
        <p:nvSpPr>
          <p:cNvPr name="AutoShape 5" id="5"/>
          <p:cNvSpPr/>
          <p:nvPr/>
        </p:nvSpPr>
        <p:spPr>
          <a:xfrm rot="0">
            <a:off x="9628395" y="4705277"/>
            <a:ext cx="319604" cy="285896"/>
          </a:xfrm>
          <a:prstGeom prst="rect">
            <a:avLst/>
          </a:prstGeom>
          <a:solidFill>
            <a:srgbClr val="004AAD">
              <a:alpha val="19608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9628395" y="6207665"/>
            <a:ext cx="319604" cy="285896"/>
          </a:xfrm>
          <a:prstGeom prst="rect">
            <a:avLst/>
          </a:prstGeom>
          <a:solidFill>
            <a:srgbClr val="004AAD">
              <a:alpha val="19608"/>
            </a:srgbClr>
          </a:solidFill>
        </p:spPr>
      </p:sp>
      <p:sp>
        <p:nvSpPr>
          <p:cNvPr name="TextBox 7" id="7"/>
          <p:cNvSpPr txBox="true"/>
          <p:nvPr/>
        </p:nvSpPr>
        <p:spPr>
          <a:xfrm rot="0">
            <a:off x="1028700" y="1540236"/>
            <a:ext cx="6370994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25"/>
              </a:lnSpc>
            </a:pPr>
            <a:r>
              <a:rPr lang="en-US" sz="8437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EVIDENCIAS DEL PROYECTO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14749" y="1540236"/>
            <a:ext cx="6402042" cy="977290"/>
            <a:chOff x="0" y="0"/>
            <a:chExt cx="8536056" cy="130305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027877" cy="834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34"/>
                </a:lnSpc>
              </a:pPr>
              <a:r>
                <a:rPr lang="en-US" sz="394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345499" y="142875"/>
              <a:ext cx="7190557" cy="1160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37"/>
                </a:lnSpc>
              </a:pPr>
              <a:r>
                <a:rPr lang="en-US" sz="17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Análisis Preliminar: Documento base para entender la situación actual y tomar decisiones informadas.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14749" y="3042624"/>
            <a:ext cx="6402042" cy="977290"/>
            <a:chOff x="0" y="0"/>
            <a:chExt cx="8536056" cy="130305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1027877" cy="834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34"/>
                </a:lnSpc>
              </a:pPr>
              <a:r>
                <a:rPr lang="en-US" sz="394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02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345499" y="142875"/>
              <a:ext cx="7190557" cy="1160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37"/>
                </a:lnSpc>
              </a:pPr>
              <a:r>
                <a:rPr lang="en-US" sz="17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Roles y Responsabilidades: Clarificación de funciones dentro del equipo para asegurar alineación y eficiencia.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14749" y="4545012"/>
            <a:ext cx="6402042" cy="977290"/>
            <a:chOff x="0" y="0"/>
            <a:chExt cx="8536056" cy="130305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1027877" cy="834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34"/>
                </a:lnSpc>
              </a:pPr>
              <a:r>
                <a:rPr lang="en-US" sz="394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03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45499" y="142875"/>
              <a:ext cx="7190557" cy="1160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37"/>
                </a:lnSpc>
              </a:pPr>
              <a:r>
                <a:rPr lang="en-US" sz="17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Mapa Mental y de Actores: Visualización de los actores y su interacción en la implementación del sistema.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14749" y="6047401"/>
            <a:ext cx="6402042" cy="977290"/>
            <a:chOff x="0" y="0"/>
            <a:chExt cx="8536056" cy="130305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1027877" cy="834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34"/>
                </a:lnSpc>
              </a:pPr>
              <a:r>
                <a:rPr lang="en-US" sz="394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04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45499" y="142875"/>
              <a:ext cx="7190557" cy="1160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37"/>
                </a:lnSpc>
              </a:pPr>
              <a:r>
                <a:rPr lang="en-US" sz="17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Backlog: Listado priorizado de las funcionalidades necesarias para el desarrollo del proyecto.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14749" y="7845064"/>
            <a:ext cx="6402042" cy="682015"/>
            <a:chOff x="0" y="0"/>
            <a:chExt cx="8536056" cy="90935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38100"/>
              <a:ext cx="1027877" cy="834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34"/>
                </a:lnSpc>
              </a:pPr>
              <a:r>
                <a:rPr lang="en-US" sz="394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05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45499" y="142875"/>
              <a:ext cx="7190557" cy="766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37"/>
                </a:lnSpc>
              </a:pPr>
              <a:r>
                <a:rPr lang="en-US" sz="17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Retrospectiva del Proyecto: Evaluación final del proyecto para identificar mejoras futuras.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0">
            <a:off x="9628395" y="1742985"/>
            <a:ext cx="319604" cy="285896"/>
          </a:xfrm>
          <a:prstGeom prst="rect">
            <a:avLst/>
          </a:prstGeom>
          <a:solidFill>
            <a:srgbClr val="004753"/>
          </a:solidFill>
        </p:spPr>
      </p:sp>
      <p:sp>
        <p:nvSpPr>
          <p:cNvPr name="AutoShape 24" id="24"/>
          <p:cNvSpPr/>
          <p:nvPr/>
        </p:nvSpPr>
        <p:spPr>
          <a:xfrm rot="0">
            <a:off x="9628395" y="4705277"/>
            <a:ext cx="319604" cy="285896"/>
          </a:xfrm>
          <a:prstGeom prst="rect">
            <a:avLst/>
          </a:prstGeom>
          <a:solidFill>
            <a:srgbClr val="004753"/>
          </a:solidFill>
        </p:spPr>
      </p:sp>
      <p:sp>
        <p:nvSpPr>
          <p:cNvPr name="AutoShape 25" id="25"/>
          <p:cNvSpPr/>
          <p:nvPr/>
        </p:nvSpPr>
        <p:spPr>
          <a:xfrm rot="0">
            <a:off x="9628395" y="6210373"/>
            <a:ext cx="319604" cy="285896"/>
          </a:xfrm>
          <a:prstGeom prst="rect">
            <a:avLst/>
          </a:prstGeom>
          <a:solidFill>
            <a:srgbClr val="004753"/>
          </a:solidFill>
        </p:spPr>
      </p:sp>
      <p:sp>
        <p:nvSpPr>
          <p:cNvPr name="AutoShape 26" id="26"/>
          <p:cNvSpPr/>
          <p:nvPr/>
        </p:nvSpPr>
        <p:spPr>
          <a:xfrm rot="0">
            <a:off x="9628395" y="8043123"/>
            <a:ext cx="319604" cy="285896"/>
          </a:xfrm>
          <a:prstGeom prst="rect">
            <a:avLst/>
          </a:prstGeom>
          <a:solidFill>
            <a:srgbClr val="004753"/>
          </a:solid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4858"/>
            <a:ext cx="8049460" cy="8049460"/>
          </a:xfrm>
          <a:custGeom>
            <a:avLst/>
            <a:gdLst/>
            <a:ahLst/>
            <a:cxnLst/>
            <a:rect r="r" b="b" t="t" l="l"/>
            <a:pathLst>
              <a:path h="8049460" w="8049460">
                <a:moveTo>
                  <a:pt x="0" y="0"/>
                </a:moveTo>
                <a:lnTo>
                  <a:pt x="8049460" y="0"/>
                </a:lnTo>
                <a:lnTo>
                  <a:pt x="8049460" y="8049460"/>
                </a:lnTo>
                <a:lnTo>
                  <a:pt x="0" y="8049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09065" y="1115078"/>
            <a:ext cx="6650235" cy="8056843"/>
            <a:chOff x="0" y="0"/>
            <a:chExt cx="8866980" cy="1074245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886698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PLAN DE TRABAJO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6175" y="1982245"/>
              <a:ext cx="8820805" cy="672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0 a Sprint 4: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651038"/>
              <a:ext cx="8866980" cy="7091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5287" indent="-252643" lvl="1">
                <a:lnSpc>
                  <a:spcPts val="3042"/>
                </a:lnSpc>
                <a:buFont typeface="Arial"/>
                <a:buChar char="•"/>
              </a:pPr>
              <a:r>
                <a:rPr lang="en-US" sz="234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0: Preparación e inicio del proyecto (4 semanas)</a:t>
              </a:r>
            </a:p>
            <a:p>
              <a:pPr algn="l" marL="505287" indent="-252643" lvl="1">
                <a:lnSpc>
                  <a:spcPts val="3042"/>
                </a:lnSpc>
                <a:buFont typeface="Arial"/>
                <a:buChar char="•"/>
              </a:pPr>
              <a:r>
                <a:rPr lang="en-US" sz="234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1: Diseño y prototipado de la interfaz (1 semanas)</a:t>
              </a:r>
            </a:p>
            <a:p>
              <a:pPr algn="l" marL="505287" indent="-252643" lvl="1">
                <a:lnSpc>
                  <a:spcPts val="3042"/>
                </a:lnSpc>
                <a:buFont typeface="Arial"/>
                <a:buChar char="•"/>
              </a:pPr>
              <a:r>
                <a:rPr lang="en-US" sz="234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2: Desarrollo de la vista de administrador (CRUD) (4 semanas)</a:t>
              </a:r>
            </a:p>
            <a:p>
              <a:pPr algn="l" marL="505287" indent="-252643" lvl="1">
                <a:lnSpc>
                  <a:spcPts val="3042"/>
                </a:lnSpc>
                <a:buFont typeface="Arial"/>
                <a:buChar char="•"/>
              </a:pPr>
              <a:r>
                <a:rPr lang="en-US" sz="234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3: Implementación de inicio de sesión con reconocimiento facial (4 semanas)</a:t>
              </a:r>
            </a:p>
            <a:p>
              <a:pPr algn="l" marL="505287" indent="-252643" lvl="1">
                <a:lnSpc>
                  <a:spcPts val="3042"/>
                </a:lnSpc>
                <a:buFont typeface="Arial"/>
                <a:buChar char="•"/>
              </a:pPr>
              <a:r>
                <a:rPr lang="en-US" sz="234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4: Desarrollo de la vista del trabajador (2 semanas)</a:t>
              </a:r>
            </a:p>
            <a:p>
              <a:pPr algn="l" marL="505287" indent="-252643" lvl="1">
                <a:lnSpc>
                  <a:spcPts val="3042"/>
                </a:lnSpc>
                <a:buFont typeface="Arial"/>
                <a:buChar char="•"/>
              </a:pPr>
              <a:r>
                <a:rPr lang="en-US" sz="234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Implementación del Sistema: Integración final y pruebas de aceptación (2 semanas)</a:t>
              </a:r>
            </a:p>
            <a:p>
              <a:pPr algn="l" marL="505287" indent="-252643" lvl="1">
                <a:lnSpc>
                  <a:spcPts val="3042"/>
                </a:lnSpc>
                <a:buFont typeface="Arial"/>
                <a:buChar char="•"/>
              </a:pPr>
              <a:r>
                <a:rPr lang="en-US" sz="234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Retrospectiva del Proyecto: Evaluación final y lecciones aprendidas (1 semana)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0" y="3044225"/>
              <a:ext cx="8866980" cy="0"/>
            </a:xfrm>
            <a:prstGeom prst="line">
              <a:avLst/>
            </a:prstGeom>
            <a:ln cap="rnd" w="12700">
              <a:solidFill>
                <a:srgbClr val="004753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67800" y="1464787"/>
            <a:ext cx="8705850" cy="7357425"/>
          </a:xfrm>
          <a:custGeom>
            <a:avLst/>
            <a:gdLst/>
            <a:ahLst/>
            <a:cxnLst/>
            <a:rect r="r" b="b" t="t" l="l"/>
            <a:pathLst>
              <a:path h="7357425" w="8705850">
                <a:moveTo>
                  <a:pt x="0" y="0"/>
                </a:moveTo>
                <a:lnTo>
                  <a:pt x="8705850" y="0"/>
                </a:lnTo>
                <a:lnTo>
                  <a:pt x="8705850" y="7357426"/>
                </a:lnTo>
                <a:lnTo>
                  <a:pt x="0" y="7357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384300" y="5153025"/>
            <a:ext cx="6299200" cy="0"/>
          </a:xfrm>
          <a:prstGeom prst="line">
            <a:avLst/>
          </a:prstGeom>
          <a:ln cap="flat" w="19050">
            <a:solidFill>
              <a:srgbClr val="004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84300" y="3986166"/>
            <a:ext cx="6299200" cy="104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9"/>
              </a:lnSpc>
              <a:spcBef>
                <a:spcPct val="0"/>
              </a:spcBef>
            </a:pPr>
            <a:r>
              <a:rPr lang="en-US" sz="8499" strike="noStrike" u="none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CARTA GANTT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9547241" y="1841604"/>
            <a:ext cx="8226409" cy="6809891"/>
          </a:xfrm>
          <a:prstGeom prst="rect">
            <a:avLst/>
          </a:prstGeom>
          <a:solidFill>
            <a:srgbClr val="004753"/>
          </a:solidFill>
        </p:spPr>
      </p:sp>
      <p:sp>
        <p:nvSpPr>
          <p:cNvPr name="AutoShape 5" id="5"/>
          <p:cNvSpPr/>
          <p:nvPr/>
        </p:nvSpPr>
        <p:spPr>
          <a:xfrm rot="0">
            <a:off x="9307106" y="1617751"/>
            <a:ext cx="8222765" cy="6809891"/>
          </a:xfrm>
          <a:prstGeom prst="rect">
            <a:avLst/>
          </a:prstGeom>
          <a:solidFill>
            <a:srgbClr val="FFFEF3"/>
          </a:solidFill>
        </p:spPr>
      </p:sp>
      <p:sp>
        <p:nvSpPr>
          <p:cNvPr name="Freeform 6" id="6"/>
          <p:cNvSpPr/>
          <p:nvPr/>
        </p:nvSpPr>
        <p:spPr>
          <a:xfrm flipH="false" flipV="false" rot="0">
            <a:off x="12566813" y="4072218"/>
            <a:ext cx="1703351" cy="246986"/>
          </a:xfrm>
          <a:custGeom>
            <a:avLst/>
            <a:gdLst/>
            <a:ahLst/>
            <a:cxnLst/>
            <a:rect r="r" b="b" t="t" l="l"/>
            <a:pathLst>
              <a:path h="246986" w="1703351">
                <a:moveTo>
                  <a:pt x="0" y="0"/>
                </a:moveTo>
                <a:lnTo>
                  <a:pt x="1703351" y="0"/>
                </a:lnTo>
                <a:lnTo>
                  <a:pt x="1703351" y="246986"/>
                </a:lnTo>
                <a:lnTo>
                  <a:pt x="0" y="246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43853" y="2577940"/>
            <a:ext cx="7149271" cy="96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9"/>
              </a:lnSpc>
            </a:pPr>
            <a:r>
              <a:rPr lang="en-US" sz="1837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Impacto del Proyecto: Mejora significativa en la eficiencia operativa y en la precisión del control de asistencia, contribuyendo a una gestión transparente y eficaz.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43853" y="4821242"/>
            <a:ext cx="7149271" cy="59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5"/>
              </a:lnSpc>
            </a:pPr>
            <a:r>
              <a:rPr lang="en-US" sz="1757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Alineación con el Perfil Profesional: Aplicación práctica de competencias clave del perfil de egreso en Ingeniería en Informática.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566813" y="5950041"/>
            <a:ext cx="1703351" cy="246986"/>
          </a:xfrm>
          <a:custGeom>
            <a:avLst/>
            <a:gdLst/>
            <a:ahLst/>
            <a:cxnLst/>
            <a:rect r="r" b="b" t="t" l="l"/>
            <a:pathLst>
              <a:path h="246986" w="1703351">
                <a:moveTo>
                  <a:pt x="0" y="0"/>
                </a:moveTo>
                <a:lnTo>
                  <a:pt x="1703351" y="0"/>
                </a:lnTo>
                <a:lnTo>
                  <a:pt x="1703351" y="246986"/>
                </a:lnTo>
                <a:lnTo>
                  <a:pt x="0" y="246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43853" y="6689541"/>
            <a:ext cx="7149271" cy="96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9"/>
              </a:lnSpc>
            </a:pPr>
            <a:r>
              <a:rPr lang="en-US" sz="1837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de Tecnologías Avanzadas: Integración de soluciones innovadoras como el reconocimiento facial para resolver problemas empresariales reales.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28281" y="4143375"/>
            <a:ext cx="5089900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0"/>
              </a:lnSpc>
            </a:pPr>
            <a:r>
              <a:rPr lang="en-US" sz="6525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CONCLUSIONES DEL PROYECTO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-181954" y="1019175"/>
            <a:ext cx="18651907" cy="0"/>
          </a:xfrm>
          <a:prstGeom prst="line">
            <a:avLst/>
          </a:prstGeom>
          <a:ln cap="flat" w="9525">
            <a:solidFill>
              <a:srgbClr val="004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0">
            <a:off x="-181954" y="9248775"/>
            <a:ext cx="18651907" cy="0"/>
          </a:xfrm>
          <a:prstGeom prst="line">
            <a:avLst/>
          </a:prstGeom>
          <a:ln cap="flat" w="9525">
            <a:solidFill>
              <a:srgbClr val="004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-5400000">
            <a:off x="-3602528" y="5519737"/>
            <a:ext cx="11049000" cy="0"/>
          </a:xfrm>
          <a:prstGeom prst="line">
            <a:avLst/>
          </a:prstGeom>
          <a:ln cap="flat" w="9525">
            <a:solidFill>
              <a:srgbClr val="00475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-5400000">
            <a:off x="3105123" y="5519737"/>
            <a:ext cx="11049000" cy="0"/>
          </a:xfrm>
          <a:prstGeom prst="line">
            <a:avLst/>
          </a:prstGeom>
          <a:ln cap="flat" w="9525">
            <a:solidFill>
              <a:srgbClr val="00475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8229600"/>
          </a:xfrm>
          <a:prstGeom prst="rect">
            <a:avLst/>
          </a:prstGeom>
          <a:solidFill>
            <a:srgbClr val="FFFEF3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604886" y="4386262"/>
            <a:ext cx="7078227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</a:pPr>
            <a:r>
              <a:rPr lang="en-US" sz="9999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PREGUNTAS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23662" y="98914"/>
            <a:ext cx="2852155" cy="701898"/>
          </a:xfrm>
          <a:custGeom>
            <a:avLst/>
            <a:gdLst/>
            <a:ahLst/>
            <a:cxnLst/>
            <a:rect r="r" b="b" t="t" l="l"/>
            <a:pathLst>
              <a:path h="701898" w="2852155">
                <a:moveTo>
                  <a:pt x="0" y="0"/>
                </a:moveTo>
                <a:lnTo>
                  <a:pt x="2852155" y="0"/>
                </a:lnTo>
                <a:lnTo>
                  <a:pt x="2852155" y="701898"/>
                </a:lnTo>
                <a:lnTo>
                  <a:pt x="0" y="70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DAGPSNHraLc</dc:identifier>
  <dcterms:modified xsi:type="dcterms:W3CDTF">2011-08-01T06:04:30Z</dcterms:modified>
  <cp:revision>1</cp:revision>
  <dc:title>Trabajo final de Grado</dc:title>
</cp:coreProperties>
</file>